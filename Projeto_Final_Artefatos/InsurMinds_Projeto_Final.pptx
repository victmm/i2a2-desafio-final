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Enunciado do Projeto Final I2A2, fornecido pelo usuário, datado de 15/07/2026. Equipe InsurMinds: Victor Hugo Araujo, João Carlos Mendonça, Adriéli Zacharias e Bruno Veiga.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Contexto extraído do enunciado I2A2. Não se apresentam números de mercado ou alegações de tempo economizado.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Captura real da aplicação local. Dados exibidos são documentos fictícios efetivamente enviados à análise real com Gemini 3.8 Flash; registro em Validacao_IA_Exemplos.json.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Fluxo: interface, API, recepção, leitura por página, extração multimodal, validação de evidências, SQLite e comparação. Documentação: docs/ARQUITETURA.md. Gemini structured output: https://ai.google.dev/gemini-api/docs/structured-output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Exemplo fictício autoral: Vértice, página 1. O verificador local valida presença textual, não a correção jurídica da interpretação.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Fonte: PDFs fictícios autorais, extração real Gemini 3.8 Flash e comparação determinística. Não é benchmark de precisão da IA nem comparação de produtos reais.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Testes automatizados e fluxo de interface executados. A equipe também validou duas extrações reais com Gemini 3.8 Flash usando PDFs fictícios. Isso não mede a precisão em apólices de mercado. A comparação é textual e requer revisão humana.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Prazo informado no enunciado: 06/10/2026 às 23h59. Repositório público: https://github.com/vicTmm/i2a2-desafio-final. A equipe testou o fluxo com Gemini em documentos fictícios; a precisão em apólices de mercado ainda requer avaliação especializada.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9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44B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InsurMinds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6437376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75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InsurMinds / I2A2 2026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1018520" y="643737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75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7899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244B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Clareza na comparação</a:t>
            </a:r>
            <a:endParaRPr lang="en-US" sz="4800" dirty="0"/>
          </a:p>
          <a:p>
            <a:pPr indent="0" marL="0">
              <a:buNone/>
            </a:pPr>
            <a:r>
              <a:rPr lang="en-US" sz="4800" b="1" dirty="0">
                <a:solidFill>
                  <a:srgbClr val="244B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apólices D&amp;O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676656" y="3977640"/>
            <a:ext cx="10515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6675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Extração com IA e evidências por página</a:t>
            </a:r>
            <a:endParaRPr lang="en-US" sz="2500" dirty="0"/>
          </a:p>
        </p:txBody>
      </p:sp>
      <p:sp>
        <p:nvSpPr>
          <p:cNvPr id="7" name="Text 5"/>
          <p:cNvSpPr/>
          <p:nvPr/>
        </p:nvSpPr>
        <p:spPr>
          <a:xfrm>
            <a:off x="676656" y="52120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6675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Projeto Final / Instituto de Inteligência Artificial Aplicada</a:t>
            </a:r>
            <a:endParaRPr lang="en-US" sz="1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9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44B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problema da leitura documental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6437376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75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InsurMinds / I2A2 2026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1018520" y="643737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75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6070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44B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limite de uma apólice não conta toda a história.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640080" y="3383280"/>
            <a:ext cx="10332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6675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Franquias, sub-limites e exclusões mudam a interpretação de uma cobertura. A análise precisa conectar cada informação às condições do documento.</a:t>
            </a:r>
            <a:endParaRPr lang="en-US" sz="2500" dirty="0"/>
          </a:p>
        </p:txBody>
      </p:sp>
      <p:sp>
        <p:nvSpPr>
          <p:cNvPr id="7" name="Text 5"/>
          <p:cNvSpPr/>
          <p:nvPr/>
        </p:nvSpPr>
        <p:spPr>
          <a:xfrm>
            <a:off x="640080" y="530352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D7C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Necessidade: localizar diferenças e conferir a origem dos dados.</a:t>
            </a:r>
            <a:endParaRPr lang="en-US" sz="2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9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44B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solução em funcionamento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6437376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75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InsurMinds / I2A2 2026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1018520" y="643737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75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pic>
        <p:nvPicPr>
          <p:cNvPr id="5" name="Image 0" descr="/Users/victorhugo/Documents/Projetos/i2a2-desafio-final/tmp/ui/overvie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0" y="1737360"/>
            <a:ext cx="5266944" cy="43891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0080" y="1920240"/>
            <a:ext cx="4572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500" b="1" dirty="0">
                <a:solidFill>
                  <a:srgbClr val="244B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critérios</a:t>
            </a:r>
            <a:endParaRPr lang="en-US" sz="3500" dirty="0"/>
          </a:p>
          <a:p>
            <a:pPr indent="0" marL="0">
              <a:buNone/>
            </a:pPr>
            <a:r>
              <a:rPr lang="en-US" sz="3500" b="1" dirty="0">
                <a:solidFill>
                  <a:srgbClr val="244B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documento</a:t>
            </a:r>
            <a:endParaRPr lang="en-US" sz="3500" dirty="0"/>
          </a:p>
        </p:txBody>
      </p:sp>
      <p:sp>
        <p:nvSpPr>
          <p:cNvPr id="7" name="Text 4"/>
          <p:cNvSpPr/>
          <p:nvPr/>
        </p:nvSpPr>
        <p:spPr>
          <a:xfrm>
            <a:off x="640080" y="3675888"/>
            <a:ext cx="4389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dirty="0">
                <a:solidFill>
                  <a:srgbClr val="6675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Biblioteca pesquisável, comparação de até quatro apólices e consulta às evidências.</a:t>
            </a:r>
            <a:endParaRPr lang="en-US" sz="2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9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44B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Arquitetura do MVP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6437376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75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InsurMinds / I2A2 2026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1018520" y="643737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75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40080" y="182880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44B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React / TypeScript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40080" y="2496312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6675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Interface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4480560" y="182880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44B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 / Starlette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4480560" y="2496312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6675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8321040" y="182880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44B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Texto + visão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8321040" y="2496312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6675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Leitura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640080" y="365760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44B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+ Pydantic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640080" y="4325112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6675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Extração e validação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4480560" y="365760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44B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SQLite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4480560" y="4325112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6675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Persistência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8321040" y="365760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44B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Comparação + PDF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8321040" y="4325112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6675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</a:t>
            </a:r>
            <a:endParaRPr lang="en-US" sz="1900" dirty="0"/>
          </a:p>
        </p:txBody>
      </p:sp>
      <p:sp>
        <p:nvSpPr>
          <p:cNvPr id="17" name="Text 15"/>
          <p:cNvSpPr/>
          <p:nvPr/>
        </p:nvSpPr>
        <p:spPr>
          <a:xfrm>
            <a:off x="640080" y="576072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D7C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Blocos, checkpoints e múltiplas evidências por critério.</a:t>
            </a:r>
            <a:endParaRPr lang="en-US" sz="2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9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44B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informação tem uma origem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6437376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75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InsurMinds / I2A2 2026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1018520" y="643737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75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40080" y="19202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6675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Valor extraído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40080" y="2624328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100" b="1" dirty="0">
                <a:solidFill>
                  <a:srgbClr val="244B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R$ 15 milhões</a:t>
            </a:r>
            <a:endParaRPr lang="en-US" sz="4100" dirty="0"/>
          </a:p>
        </p:txBody>
      </p:sp>
      <p:sp>
        <p:nvSpPr>
          <p:cNvPr id="7" name="Text 5"/>
          <p:cNvSpPr/>
          <p:nvPr/>
        </p:nvSpPr>
        <p:spPr>
          <a:xfrm>
            <a:off x="6217920" y="1920240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6675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Evidência na página 1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6217920" y="2651760"/>
            <a:ext cx="51206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44B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“Limite de responsabilidade: BRL 15.000.000,00.”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640080" y="480060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dirty="0">
                <a:solidFill>
                  <a:srgbClr val="6675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Trechos de texto são conferidos automaticamente. Leituras de imagens exigem revisão visual. Dado ausente permanece não identificado.</a:t>
            </a:r>
            <a:endParaRPr lang="en-US" sz="2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9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44B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Comparação demonstrativa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6437376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75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InsurMinds / I2A2 2026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1018520" y="643737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75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828800"/>
          <a:ext cx="10881360" cy="2971800"/>
        </p:xfrm>
        <a:graphic>
          <a:graphicData uri="http://schemas.openxmlformats.org/drawingml/2006/table">
            <a:tbl>
              <a:tblPr/>
              <a:tblGrid>
                <a:gridCol w="3840480"/>
                <a:gridCol w="3520440"/>
                <a:gridCol w="3520440"/>
              </a:tblGrid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244B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Critério</a:t>
                      </a:r>
                      <a:endParaRPr lang="en-US" sz="2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52400" marR="152400" marT="152400" marB="152400">
                    <a:lnL w="8890" cap="flat" cmpd="sng" algn="ctr">
                      <a:solidFill>
                        <a:srgbClr val="DEE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EE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EE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EE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244B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Aurora / fictícia</a:t>
                      </a:r>
                      <a:endParaRPr lang="en-US" sz="2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52400" marR="152400" marT="152400" marB="152400">
                    <a:lnL w="8890" cap="flat" cmpd="sng" algn="ctr">
                      <a:solidFill>
                        <a:srgbClr val="DEE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EE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EE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EE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244B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Vértice / fictícia</a:t>
                      </a:r>
                      <a:endParaRPr lang="en-US" sz="2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52400" marR="152400" marT="152400" marB="152400">
                    <a:lnL w="8890" cap="flat" cmpd="sng" algn="ctr">
                      <a:solidFill>
                        <a:srgbClr val="DEE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EE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EE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EE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244B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Limite agregado</a:t>
                      </a:r>
                      <a:endParaRPr lang="en-US" sz="2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52400" marR="152400" marT="152400" marB="152400">
                    <a:lnL w="8890" cap="flat" cmpd="sng" algn="ctr">
                      <a:solidFill>
                        <a:srgbClr val="DEE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EE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EE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EE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244B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R$ 10 milhões</a:t>
                      </a:r>
                      <a:endParaRPr lang="en-US" sz="2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52400" marR="152400" marT="152400" marB="152400">
                    <a:lnL w="8890" cap="flat" cmpd="sng" algn="ctr">
                      <a:solidFill>
                        <a:srgbClr val="DEE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EE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EE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EE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244B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R$ 15 milhões</a:t>
                      </a:r>
                      <a:endParaRPr lang="en-US" sz="2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52400" marR="152400" marT="152400" marB="152400">
                    <a:lnL w="8890" cap="flat" cmpd="sng" algn="ctr">
                      <a:solidFill>
                        <a:srgbClr val="DEE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EE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EE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EE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244B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Prêmio total</a:t>
                      </a:r>
                      <a:endParaRPr lang="en-US" sz="2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52400" marR="152400" marT="152400" marB="152400">
                    <a:lnL w="8890" cap="flat" cmpd="sng" algn="ctr">
                      <a:solidFill>
                        <a:srgbClr val="DEE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EE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EE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EE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244B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R$ 32.500</a:t>
                      </a:r>
                      <a:endParaRPr lang="en-US" sz="2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52400" marR="152400" marT="152400" marB="152400">
                    <a:lnL w="8890" cap="flat" cmpd="sng" algn="ctr">
                      <a:solidFill>
                        <a:srgbClr val="DEE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EE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EE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EE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244B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R$ 41.800</a:t>
                      </a:r>
                      <a:endParaRPr lang="en-US" sz="2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52400" marR="152400" marT="152400" marB="152400">
                    <a:lnL w="8890" cap="flat" cmpd="sng" algn="ctr">
                      <a:solidFill>
                        <a:srgbClr val="DEE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EE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EE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EE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244B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Franquia Side B</a:t>
                      </a:r>
                      <a:endParaRPr lang="en-US" sz="2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52400" marR="152400" marT="152400" marB="152400">
                    <a:lnL w="8890" cap="flat" cmpd="sng" algn="ctr">
                      <a:solidFill>
                        <a:srgbClr val="DEE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EE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EE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EE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244B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R$ 50 mil</a:t>
                      </a:r>
                      <a:endParaRPr lang="en-US" sz="2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52400" marR="152400" marT="152400" marB="152400">
                    <a:lnL w="8890" cap="flat" cmpd="sng" algn="ctr">
                      <a:solidFill>
                        <a:srgbClr val="DEE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EE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EE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EE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244B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R$ 100 mil</a:t>
                      </a:r>
                      <a:endParaRPr lang="en-US" sz="2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52400" marR="152400" marT="152400" marB="152400">
                    <a:lnL w="8890" cap="flat" cmpd="sng" algn="ctr">
                      <a:solidFill>
                        <a:srgbClr val="DEE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EE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EE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EE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244B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Prazo complementar</a:t>
                      </a:r>
                      <a:endParaRPr lang="en-US" sz="2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52400" marR="152400" marT="152400" marB="152400">
                    <a:lnL w="8890" cap="flat" cmpd="sng" algn="ctr">
                      <a:solidFill>
                        <a:srgbClr val="DEE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EE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EE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EE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244B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 meses</a:t>
                      </a:r>
                      <a:endParaRPr lang="en-US" sz="2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52400" marR="152400" marT="152400" marB="152400">
                    <a:lnL w="8890" cap="flat" cmpd="sng" algn="ctr">
                      <a:solidFill>
                        <a:srgbClr val="DEE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EE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EE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EE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244B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 meses</a:t>
                      </a:r>
                      <a:endParaRPr lang="en-US" sz="2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52400" marR="152400" marT="152400" marB="152400">
                    <a:lnL w="8890" cap="flat" cmpd="sng" algn="ctr">
                      <a:solidFill>
                        <a:srgbClr val="DEE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EE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EE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EE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640080" y="5138928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244B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diferenças textuais entre 16 critérios dos exemplos.</a:t>
            </a:r>
            <a:endParaRPr lang="en-US" sz="2500" dirty="0"/>
          </a:p>
        </p:txBody>
      </p:sp>
      <p:sp>
        <p:nvSpPr>
          <p:cNvPr id="7" name="Text 4"/>
          <p:cNvSpPr/>
          <p:nvPr/>
        </p:nvSpPr>
        <p:spPr>
          <a:xfrm>
            <a:off x="640080" y="576072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6675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Valores sintéticos. A comparação não recomenda uma contratação.</a:t>
            </a:r>
            <a:endParaRPr lang="en-US" sz="1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9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44B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Validação e limitações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6437376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75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InsurMinds / I2A2 2026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1018520" y="643737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75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40080" y="182880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44B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 testes Python + 1 teste de upload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640080" y="2834640"/>
            <a:ext cx="10332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6675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Leitura de documentos, evidências, persistência, comparação e exportações. Fluxo de interface verificado em desktop e celular.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640080" y="459028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5D7C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3.8: dois PDFs fictícios, 16 critérios verificados por documento e exportações PDF/JSON aprovadas.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640080" y="5559552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675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precisão em apólices reais ainda requer avaliação especializada.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9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44B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Próximos passos da equipe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6437376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75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InsurMinds / I2A2 2026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1018520" y="643737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75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40080" y="1828800"/>
            <a:ext cx="10698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44B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Validação com documentos reais</a:t>
            </a:r>
            <a:endParaRPr lang="en-US" sz="3400" dirty="0"/>
          </a:p>
          <a:p>
            <a:pPr indent="0" marL="0">
              <a:buNone/>
            </a:pPr>
            <a:r>
              <a:rPr lang="en-US" sz="3400" b="1" dirty="0">
                <a:solidFill>
                  <a:srgbClr val="244B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 revisão por especialistas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640080" y="3621024"/>
            <a:ext cx="10607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6675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Evolução: avaliação por campo, comparação semântica, revisão versionada, autenticação e fila persistente.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640080" y="5001768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D7C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Equipe: Victor Hugo Araujo, João Carlos Mendonça, Adriéli Zacharias e Bruno Veiga.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5D7C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Repositório público; avaliação especializada em apólices de mercado pendente.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InsurMinds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InsurMinds - Análise e comparação de apólices D&amp;O</dc:title>
  <dc:subject>Projeto Final I2A2 2026</dc:subject>
  <dc:creator>Equipe InsurMinds</dc:creator>
  <cp:lastModifiedBy>Equipe InsurMinds</cp:lastModifiedBy>
  <cp:revision>1</cp:revision>
  <dcterms:created xsi:type="dcterms:W3CDTF">2026-10-06T02:51:57Z</dcterms:created>
  <dcterms:modified xsi:type="dcterms:W3CDTF">2026-10-06T02:51:57Z</dcterms:modified>
</cp:coreProperties>
</file>